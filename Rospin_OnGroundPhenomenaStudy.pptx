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mbria" panose="02040503050406030204" pitchFamily="18" charset="0"/>
      <p:regular r:id="rId15"/>
      <p:bold r:id="rId16"/>
      <p:italic r:id="rId17"/>
      <p:boldItalic r:id="rId18"/>
    </p:embeddedFont>
    <p:embeddedFont>
      <p:font typeface="Cambria Italics" panose="020B0604020202020204" charset="0"/>
      <p:regular r:id="rId19"/>
    </p:embeddedFont>
    <p:embeddedFont>
      <p:font typeface="Intro" panose="02000000000000000000" charset="0"/>
      <p:regular r:id="rId20"/>
    </p:embeddedFont>
    <p:embeddedFont>
      <p:font typeface="Open Sauce" panose="020B0604020202020204" charset="0"/>
      <p:regular r:id="rId21"/>
    </p:embeddedFont>
    <p:embeddedFont>
      <p:font typeface="Open Sauce Medium" panose="020B0604020202020204" charset="0"/>
      <p:regular r:id="rId22"/>
    </p:embeddedFont>
    <p:embeddedFont>
      <p:font typeface="Quicksand" panose="020B0604020202020204" charset="0"/>
      <p:regular r:id="rId23"/>
    </p:embeddedFont>
    <p:embeddedFont>
      <p:font typeface="Quicksand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864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chnederIT/statistical_corr_on_sat_data/tree/dev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327227">
            <a:off x="7298261" y="-4567843"/>
            <a:ext cx="14826386" cy="15598632"/>
            <a:chOff x="0" y="0"/>
            <a:chExt cx="1514824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14824" cy="1593725"/>
            </a:xfrm>
            <a:custGeom>
              <a:avLst/>
              <a:gdLst/>
              <a:ahLst/>
              <a:cxnLst/>
              <a:rect l="l" t="t" r="r" b="b"/>
              <a:pathLst>
                <a:path w="1514824" h="1593725">
                  <a:moveTo>
                    <a:pt x="0" y="0"/>
                  </a:moveTo>
                  <a:lnTo>
                    <a:pt x="1514824" y="0"/>
                  </a:lnTo>
                  <a:lnTo>
                    <a:pt x="151482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l="-29402" r="-2940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2520850"/>
            <a:ext cx="10281487" cy="3889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22"/>
              </a:lnSpc>
              <a:spcBef>
                <a:spcPct val="0"/>
              </a:spcBef>
            </a:pPr>
            <a:r>
              <a:rPr lang="en-US" sz="7373" spc="-442">
                <a:solidFill>
                  <a:srgbClr val="FFD62E"/>
                </a:solidFill>
                <a:latin typeface="Intro"/>
                <a:ea typeface="Intro"/>
                <a:cs typeface="Intro"/>
                <a:sym typeface="Intro"/>
              </a:rPr>
              <a:t>On-ground phenomena study using Satellite Data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1258" y="6710374"/>
            <a:ext cx="2493355" cy="1386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1"/>
              </a:lnSpc>
            </a:pPr>
            <a:r>
              <a:rPr lang="en-US" sz="2686">
                <a:solidFill>
                  <a:srgbClr val="FEFFFF"/>
                </a:solidFill>
                <a:latin typeface="Open Sauce"/>
                <a:ea typeface="Open Sauce"/>
                <a:cs typeface="Open Sauce"/>
                <a:sym typeface="Open Sauce"/>
              </a:rPr>
              <a:t>A. Crivcianschi</a:t>
            </a:r>
          </a:p>
          <a:p>
            <a:pPr algn="l">
              <a:lnSpc>
                <a:spcPts val="3761"/>
              </a:lnSpc>
            </a:pPr>
            <a:r>
              <a:rPr lang="en-US" sz="2686">
                <a:solidFill>
                  <a:srgbClr val="FEFFFF"/>
                </a:solidFill>
                <a:latin typeface="Open Sauce"/>
                <a:ea typeface="Open Sauce"/>
                <a:cs typeface="Open Sauce"/>
                <a:sym typeface="Open Sauce"/>
              </a:rPr>
              <a:t>C. - I. Moisă</a:t>
            </a:r>
          </a:p>
          <a:p>
            <a:pPr algn="l">
              <a:lnSpc>
                <a:spcPts val="3761"/>
              </a:lnSpc>
              <a:spcBef>
                <a:spcPct val="0"/>
              </a:spcBef>
            </a:pPr>
            <a:r>
              <a:rPr lang="en-US" sz="2686">
                <a:solidFill>
                  <a:srgbClr val="FEFFFF"/>
                </a:solidFill>
                <a:latin typeface="Open Sauce"/>
                <a:ea typeface="Open Sauce"/>
                <a:cs typeface="Open Sauce"/>
                <a:sym typeface="Open Sauce"/>
              </a:rPr>
              <a:t>T. - H. Vâtcă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93301" y="566314"/>
            <a:ext cx="19441371" cy="19441371"/>
          </a:xfrm>
          <a:custGeom>
            <a:avLst/>
            <a:gdLst/>
            <a:ahLst/>
            <a:cxnLst/>
            <a:rect l="l" t="t" r="r" b="b"/>
            <a:pathLst>
              <a:path w="19441371" h="19441371">
                <a:moveTo>
                  <a:pt x="0" y="0"/>
                </a:moveTo>
                <a:lnTo>
                  <a:pt x="19441371" y="0"/>
                </a:lnTo>
                <a:lnTo>
                  <a:pt x="19441371" y="19441372"/>
                </a:lnTo>
                <a:lnTo>
                  <a:pt x="0" y="19441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209675"/>
            <a:ext cx="11772900" cy="119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315"/>
              </a:lnSpc>
            </a:pPr>
            <a:r>
              <a:rPr lang="en-US" sz="9315" b="1" spc="-558" dirty="0">
                <a:solidFill>
                  <a:srgbClr val="FFD62E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Research 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807120"/>
            <a:ext cx="11070482" cy="5158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64"/>
              </a:lnSpc>
            </a:pPr>
            <a:r>
              <a:rPr lang="en-US" sz="3857" b="1" u="sng" spc="243">
                <a:solidFill>
                  <a:srgbClr val="FE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Problem</a:t>
            </a:r>
            <a:r>
              <a:rPr lang="en-US" sz="3857" spc="243">
                <a:solidFill>
                  <a:srgbClr val="FEFFFF"/>
                </a:solidFill>
                <a:latin typeface="Quicksand"/>
                <a:ea typeface="Quicksand"/>
                <a:cs typeface="Quicksand"/>
                <a:sym typeface="Quicksand"/>
              </a:rPr>
              <a:t>: On-ground measurement is accurate, but expensive (expensive equipment, maitenance, etc.).</a:t>
            </a:r>
          </a:p>
          <a:p>
            <a:pPr algn="l">
              <a:lnSpc>
                <a:spcPts val="5864"/>
              </a:lnSpc>
            </a:pPr>
            <a:endParaRPr lang="en-US" sz="3857" spc="243">
              <a:solidFill>
                <a:srgbClr val="FE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algn="l">
              <a:lnSpc>
                <a:spcPts val="5864"/>
              </a:lnSpc>
            </a:pPr>
            <a:r>
              <a:rPr lang="en-US" sz="3857" b="1" u="sng" spc="243">
                <a:solidFill>
                  <a:srgbClr val="FE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Solution</a:t>
            </a:r>
            <a:r>
              <a:rPr lang="en-US" sz="3857" spc="243">
                <a:solidFill>
                  <a:srgbClr val="FEFFFF"/>
                </a:solidFill>
                <a:latin typeface="Quicksand"/>
                <a:ea typeface="Quicksand"/>
                <a:cs typeface="Quicksand"/>
                <a:sym typeface="Quicksand"/>
              </a:rPr>
              <a:t>: Analytical aproximation using remote satellite data and statistical correspondention.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" y="1291585"/>
            <a:ext cx="16116301" cy="6666287"/>
            <a:chOff x="-294652" y="148378"/>
            <a:chExt cx="21488400" cy="8888382"/>
          </a:xfrm>
        </p:grpSpPr>
        <p:sp>
          <p:nvSpPr>
            <p:cNvPr id="3" name="TextBox 3"/>
            <p:cNvSpPr txBox="1"/>
            <p:nvPr/>
          </p:nvSpPr>
          <p:spPr>
            <a:xfrm>
              <a:off x="-294652" y="148378"/>
              <a:ext cx="16354499" cy="15901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315"/>
                </a:lnSpc>
              </a:pPr>
              <a:r>
                <a:rPr lang="en-US" sz="9315" b="1" spc="-558" dirty="0">
                  <a:solidFill>
                    <a:srgbClr val="FFD62E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Architecture overview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039860"/>
              <a:ext cx="13198197" cy="5174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43"/>
                </a:lnSpc>
              </a:pPr>
              <a:r>
                <a:rPr lang="en-US" sz="3449" b="1" spc="217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Satellite Imagery source: Copernicus Data Space Ecosystem API</a:t>
              </a:r>
            </a:p>
            <a:p>
              <a:pPr algn="l">
                <a:lnSpc>
                  <a:spcPts val="5243"/>
                </a:lnSpc>
              </a:pPr>
              <a:endParaRPr lang="en-US" sz="3449" b="1" spc="217">
                <a:solidFill>
                  <a:srgbClr val="FEFFFF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  <a:p>
              <a:pPr algn="l">
                <a:lnSpc>
                  <a:spcPts val="5243"/>
                </a:lnSpc>
              </a:pPr>
              <a:r>
                <a:rPr lang="en-US" sz="3449" b="1" spc="217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Used data set: Sentinel-2 L2A, etc.</a:t>
              </a:r>
            </a:p>
            <a:p>
              <a:pPr algn="l">
                <a:lnSpc>
                  <a:spcPts val="5243"/>
                </a:lnSpc>
              </a:pPr>
              <a:endParaRPr lang="en-US" sz="3449" b="1" spc="217">
                <a:solidFill>
                  <a:srgbClr val="FEFFFF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  <a:p>
              <a:pPr algn="l">
                <a:lnSpc>
                  <a:spcPts val="5243"/>
                </a:lnSpc>
              </a:pPr>
              <a:r>
                <a:rPr lang="en-US" sz="3449" b="1" spc="217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Implementation using CV in Python</a:t>
              </a:r>
            </a:p>
          </p:txBody>
        </p:sp>
        <p:sp>
          <p:nvSpPr>
            <p:cNvPr id="5" name="Freeform 5"/>
            <p:cNvSpPr/>
            <p:nvPr/>
          </p:nvSpPr>
          <p:spPr>
            <a:xfrm flipH="1">
              <a:off x="16354499" y="945275"/>
              <a:ext cx="4839249" cy="4807130"/>
            </a:xfrm>
            <a:custGeom>
              <a:avLst/>
              <a:gdLst/>
              <a:ahLst/>
              <a:cxnLst/>
              <a:rect l="l" t="t" r="r" b="b"/>
              <a:pathLst>
                <a:path w="4839249" h="4807130">
                  <a:moveTo>
                    <a:pt x="4839248" y="0"/>
                  </a:moveTo>
                  <a:lnTo>
                    <a:pt x="0" y="0"/>
                  </a:lnTo>
                  <a:lnTo>
                    <a:pt x="0" y="4807130"/>
                  </a:lnTo>
                  <a:lnTo>
                    <a:pt x="4839248" y="4807130"/>
                  </a:lnTo>
                  <a:lnTo>
                    <a:pt x="4839248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4635659" y="2531836"/>
              <a:ext cx="4817718" cy="4807130"/>
            </a:xfrm>
            <a:custGeom>
              <a:avLst/>
              <a:gdLst/>
              <a:ahLst/>
              <a:cxnLst/>
              <a:rect l="l" t="t" r="r" b="b"/>
              <a:pathLst>
                <a:path w="4817718" h="4807130">
                  <a:moveTo>
                    <a:pt x="0" y="0"/>
                  </a:moveTo>
                  <a:lnTo>
                    <a:pt x="4817719" y="0"/>
                  </a:lnTo>
                  <a:lnTo>
                    <a:pt x="4817719" y="4807130"/>
                  </a:lnTo>
                  <a:lnTo>
                    <a:pt x="0" y="48071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2947233" y="4229630"/>
              <a:ext cx="4800061" cy="4807130"/>
            </a:xfrm>
            <a:custGeom>
              <a:avLst/>
              <a:gdLst/>
              <a:ahLst/>
              <a:cxnLst/>
              <a:rect l="l" t="t" r="r" b="b"/>
              <a:pathLst>
                <a:path w="4800061" h="4807130">
                  <a:moveTo>
                    <a:pt x="0" y="0"/>
                  </a:moveTo>
                  <a:lnTo>
                    <a:pt x="4800061" y="0"/>
                  </a:lnTo>
                  <a:lnTo>
                    <a:pt x="4800061" y="4807130"/>
                  </a:lnTo>
                  <a:lnTo>
                    <a:pt x="0" y="48071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8629" y="1809884"/>
            <a:ext cx="15790741" cy="6539079"/>
            <a:chOff x="0" y="0"/>
            <a:chExt cx="21054322" cy="8718772"/>
          </a:xfrm>
        </p:grpSpPr>
        <p:sp>
          <p:nvSpPr>
            <p:cNvPr id="3" name="TextBox 3"/>
            <p:cNvSpPr txBox="1"/>
            <p:nvPr/>
          </p:nvSpPr>
          <p:spPr>
            <a:xfrm>
              <a:off x="1516744" y="275647"/>
              <a:ext cx="7483913" cy="10427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49"/>
                </a:lnSpc>
              </a:pPr>
              <a:r>
                <a:rPr lang="en-US" sz="5649" b="1" spc="-338">
                  <a:solidFill>
                    <a:srgbClr val="FE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Current approach</a:t>
              </a:r>
            </a:p>
          </p:txBody>
        </p:sp>
        <p:grpSp>
          <p:nvGrpSpPr>
            <p:cNvPr id="4" name="Group 4"/>
            <p:cNvGrpSpPr/>
            <p:nvPr/>
          </p:nvGrpSpPr>
          <p:grpSpPr>
            <a:xfrm rot="5400000">
              <a:off x="5229397" y="-2394227"/>
              <a:ext cx="58608" cy="7483913"/>
              <a:chOff x="0" y="0"/>
              <a:chExt cx="12608" cy="160996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2608" cy="1609963"/>
              </a:xfrm>
              <a:custGeom>
                <a:avLst/>
                <a:gdLst/>
                <a:ahLst/>
                <a:cxnLst/>
                <a:rect l="l" t="t" r="r" b="b"/>
                <a:pathLst>
                  <a:path w="12608" h="1609963">
                    <a:moveTo>
                      <a:pt x="6304" y="0"/>
                    </a:moveTo>
                    <a:lnTo>
                      <a:pt x="6304" y="0"/>
                    </a:lnTo>
                    <a:cubicBezTo>
                      <a:pt x="9786" y="0"/>
                      <a:pt x="12608" y="2822"/>
                      <a:pt x="12608" y="6304"/>
                    </a:cubicBezTo>
                    <a:lnTo>
                      <a:pt x="12608" y="1603659"/>
                    </a:lnTo>
                    <a:cubicBezTo>
                      <a:pt x="12608" y="1605331"/>
                      <a:pt x="11944" y="1606935"/>
                      <a:pt x="10762" y="1608117"/>
                    </a:cubicBezTo>
                    <a:cubicBezTo>
                      <a:pt x="9579" y="1609299"/>
                      <a:pt x="7976" y="1609963"/>
                      <a:pt x="6304" y="1609963"/>
                    </a:cubicBezTo>
                    <a:lnTo>
                      <a:pt x="6304" y="1609963"/>
                    </a:lnTo>
                    <a:cubicBezTo>
                      <a:pt x="4632" y="1609963"/>
                      <a:pt x="3029" y="1609299"/>
                      <a:pt x="1846" y="1608117"/>
                    </a:cubicBezTo>
                    <a:cubicBezTo>
                      <a:pt x="664" y="1606935"/>
                      <a:pt x="0" y="1605331"/>
                      <a:pt x="0" y="1603659"/>
                    </a:cubicBezTo>
                    <a:lnTo>
                      <a:pt x="0" y="6304"/>
                    </a:lnTo>
                    <a:cubicBezTo>
                      <a:pt x="0" y="4632"/>
                      <a:pt x="664" y="3029"/>
                      <a:pt x="1846" y="1846"/>
                    </a:cubicBezTo>
                    <a:cubicBezTo>
                      <a:pt x="3029" y="664"/>
                      <a:pt x="4632" y="0"/>
                      <a:pt x="6304" y="0"/>
                    </a:cubicBezTo>
                    <a:close/>
                  </a:path>
                </a:pathLst>
              </a:custGeom>
              <a:solidFill>
                <a:srgbClr val="FFD62E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2608" cy="1648063"/>
              </a:xfrm>
              <a:prstGeom prst="rect">
                <a:avLst/>
              </a:prstGeom>
            </p:spPr>
            <p:txBody>
              <a:bodyPr lIns="46646" tIns="46646" rIns="46646" bIns="46646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3795169" y="275647"/>
              <a:ext cx="4506955" cy="1042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49"/>
                </a:lnSpc>
              </a:pPr>
              <a:r>
                <a:rPr lang="en-US" sz="5649" b="1" spc="-338">
                  <a:solidFill>
                    <a:srgbClr val="FE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Alternative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 rot="5400000">
              <a:off x="16019438" y="-1644042"/>
              <a:ext cx="58417" cy="6037065"/>
              <a:chOff x="0" y="0"/>
              <a:chExt cx="12567" cy="129871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2567" cy="1298713"/>
              </a:xfrm>
              <a:custGeom>
                <a:avLst/>
                <a:gdLst/>
                <a:ahLst/>
                <a:cxnLst/>
                <a:rect l="l" t="t" r="r" b="b"/>
                <a:pathLst>
                  <a:path w="12567" h="1298713">
                    <a:moveTo>
                      <a:pt x="6283" y="0"/>
                    </a:moveTo>
                    <a:lnTo>
                      <a:pt x="6283" y="0"/>
                    </a:lnTo>
                    <a:cubicBezTo>
                      <a:pt x="9754" y="0"/>
                      <a:pt x="12567" y="2813"/>
                      <a:pt x="12567" y="6283"/>
                    </a:cubicBezTo>
                    <a:lnTo>
                      <a:pt x="12567" y="1292429"/>
                    </a:lnTo>
                    <a:cubicBezTo>
                      <a:pt x="12567" y="1294096"/>
                      <a:pt x="11905" y="1295694"/>
                      <a:pt x="10726" y="1296872"/>
                    </a:cubicBezTo>
                    <a:cubicBezTo>
                      <a:pt x="9548" y="1298051"/>
                      <a:pt x="7950" y="1298713"/>
                      <a:pt x="6283" y="1298713"/>
                    </a:cubicBezTo>
                    <a:lnTo>
                      <a:pt x="6283" y="1298713"/>
                    </a:lnTo>
                    <a:cubicBezTo>
                      <a:pt x="2813" y="1298713"/>
                      <a:pt x="0" y="1295900"/>
                      <a:pt x="0" y="1292429"/>
                    </a:cubicBezTo>
                    <a:lnTo>
                      <a:pt x="0" y="6283"/>
                    </a:lnTo>
                    <a:cubicBezTo>
                      <a:pt x="0" y="4617"/>
                      <a:pt x="662" y="3019"/>
                      <a:pt x="1840" y="1840"/>
                    </a:cubicBezTo>
                    <a:cubicBezTo>
                      <a:pt x="3019" y="662"/>
                      <a:pt x="4617" y="0"/>
                      <a:pt x="6283" y="0"/>
                    </a:cubicBezTo>
                    <a:close/>
                  </a:path>
                </a:pathLst>
              </a:custGeom>
              <a:solidFill>
                <a:srgbClr val="FFD62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2567" cy="1336813"/>
              </a:xfrm>
              <a:prstGeom prst="rect">
                <a:avLst/>
              </a:prstGeom>
            </p:spPr>
            <p:txBody>
              <a:bodyPr lIns="46646" tIns="46646" rIns="46646" bIns="46646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0"/>
              <a:ext cx="10517402" cy="8364310"/>
              <a:chOff x="0" y="0"/>
              <a:chExt cx="2262537" cy="179935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262537" cy="1799357"/>
              </a:xfrm>
              <a:custGeom>
                <a:avLst/>
                <a:gdLst/>
                <a:ahLst/>
                <a:cxnLst/>
                <a:rect l="l" t="t" r="r" b="b"/>
                <a:pathLst>
                  <a:path w="2262537" h="1799357">
                    <a:moveTo>
                      <a:pt x="24537" y="0"/>
                    </a:moveTo>
                    <a:lnTo>
                      <a:pt x="2238000" y="0"/>
                    </a:lnTo>
                    <a:cubicBezTo>
                      <a:pt x="2251552" y="0"/>
                      <a:pt x="2262537" y="10986"/>
                      <a:pt x="2262537" y="24537"/>
                    </a:cubicBezTo>
                    <a:lnTo>
                      <a:pt x="2262537" y="1774820"/>
                    </a:lnTo>
                    <a:cubicBezTo>
                      <a:pt x="2262537" y="1788372"/>
                      <a:pt x="2251552" y="1799357"/>
                      <a:pt x="2238000" y="1799357"/>
                    </a:cubicBezTo>
                    <a:lnTo>
                      <a:pt x="24537" y="1799357"/>
                    </a:lnTo>
                    <a:cubicBezTo>
                      <a:pt x="10986" y="1799357"/>
                      <a:pt x="0" y="1788372"/>
                      <a:pt x="0" y="1774820"/>
                    </a:cubicBezTo>
                    <a:lnTo>
                      <a:pt x="0" y="24537"/>
                    </a:lnTo>
                    <a:cubicBezTo>
                      <a:pt x="0" y="10986"/>
                      <a:pt x="10986" y="0"/>
                      <a:pt x="2453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rnd">
                <a:solidFill>
                  <a:srgbClr val="FE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2262537" cy="1837457"/>
              </a:xfrm>
              <a:prstGeom prst="rect">
                <a:avLst/>
              </a:prstGeom>
            </p:spPr>
            <p:txBody>
              <a:bodyPr lIns="46646" tIns="46646" rIns="46646" bIns="46646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276441" y="1329409"/>
              <a:ext cx="9970114" cy="63110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3"/>
                </a:lnSpc>
                <a:spcBef>
                  <a:spcPct val="0"/>
                </a:spcBef>
              </a:pPr>
              <a:endParaRPr/>
            </a:p>
            <a:p>
              <a:pPr marL="596155" lvl="1" indent="-298078" algn="l">
                <a:lnSpc>
                  <a:spcPts val="386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61" b="1" spc="-82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Methodology</a:t>
              </a:r>
              <a:r>
                <a:rPr lang="en-US" sz="2761" spc="-82">
                  <a:solidFill>
                    <a:srgbClr val="FEFFFF"/>
                  </a:solidFill>
                  <a:latin typeface="Quicksand"/>
                  <a:ea typeface="Quicksand"/>
                  <a:cs typeface="Quicksand"/>
                  <a:sym typeface="Quicksand"/>
                </a:rPr>
                <a:t>: Weekly site visits by a team of 3 engineers to manually take measurements.</a:t>
              </a:r>
            </a:p>
            <a:p>
              <a:pPr marL="596155" lvl="1" indent="-298078" algn="l">
                <a:lnSpc>
                  <a:spcPts val="386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61" b="1" spc="-82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Labor</a:t>
              </a:r>
              <a:r>
                <a:rPr lang="en-US" sz="2761" spc="-82">
                  <a:solidFill>
                    <a:srgbClr val="FEFFFF"/>
                  </a:solidFill>
                  <a:latin typeface="Quicksand"/>
                  <a:ea typeface="Quicksand"/>
                  <a:cs typeface="Quicksand"/>
                  <a:sym typeface="Quicksand"/>
                </a:rPr>
                <a:t>: 3 Engineers x 1 day/week x 52 weeks x €200/day = €20,800</a:t>
              </a:r>
            </a:p>
            <a:p>
              <a:pPr marL="596155" lvl="1" indent="-298078" algn="l">
                <a:lnSpc>
                  <a:spcPts val="386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61" b="1" spc="-82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Logistics:</a:t>
              </a:r>
              <a:r>
                <a:rPr lang="en-US" sz="2761" spc="-82">
                  <a:solidFill>
                    <a:srgbClr val="FEFFFF"/>
                  </a:solidFill>
                  <a:latin typeface="Quicksand"/>
                  <a:ea typeface="Quicksand"/>
                  <a:cs typeface="Quicksand"/>
                  <a:sym typeface="Quicksand"/>
                </a:rPr>
                <a:t> for 52 trips = €5,200</a:t>
              </a:r>
            </a:p>
            <a:p>
              <a:pPr marL="596155" lvl="1" indent="-298078" algn="l">
                <a:lnSpc>
                  <a:spcPts val="386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61" b="1" spc="-82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Equipment Maintenance:</a:t>
              </a:r>
              <a:r>
                <a:rPr lang="en-US" sz="2761" spc="-82">
                  <a:solidFill>
                    <a:srgbClr val="FEFFFF"/>
                  </a:solidFill>
                  <a:latin typeface="Quicksand"/>
                  <a:ea typeface="Quicksand"/>
                  <a:cs typeface="Quicksand"/>
                  <a:sym typeface="Quicksand"/>
                </a:rPr>
                <a:t> Calibration of sensors = €1,500</a:t>
              </a:r>
            </a:p>
            <a:p>
              <a:pPr marL="596155" lvl="1" indent="-298078" algn="l">
                <a:lnSpc>
                  <a:spcPts val="386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61" b="1" spc="-82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Total Annual Cost: €27,500</a:t>
              </a:r>
            </a:p>
            <a:p>
              <a:pPr algn="l">
                <a:lnSpc>
                  <a:spcPts val="3480"/>
                </a:lnSpc>
                <a:spcBef>
                  <a:spcPct val="0"/>
                </a:spcBef>
              </a:pPr>
              <a:endParaRPr lang="en-US" sz="2761" b="1" spc="-82">
                <a:solidFill>
                  <a:srgbClr val="FEFFFF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10710968" y="0"/>
              <a:ext cx="10343353" cy="8364310"/>
              <a:chOff x="0" y="0"/>
              <a:chExt cx="2225095" cy="179935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225095" cy="1799357"/>
              </a:xfrm>
              <a:custGeom>
                <a:avLst/>
                <a:gdLst/>
                <a:ahLst/>
                <a:cxnLst/>
                <a:rect l="l" t="t" r="r" b="b"/>
                <a:pathLst>
                  <a:path w="2225095" h="1799357">
                    <a:moveTo>
                      <a:pt x="24950" y="0"/>
                    </a:moveTo>
                    <a:lnTo>
                      <a:pt x="2200146" y="0"/>
                    </a:lnTo>
                    <a:cubicBezTo>
                      <a:pt x="2206763" y="0"/>
                      <a:pt x="2213109" y="2629"/>
                      <a:pt x="2217788" y="7308"/>
                    </a:cubicBezTo>
                    <a:cubicBezTo>
                      <a:pt x="2222467" y="11987"/>
                      <a:pt x="2225095" y="18333"/>
                      <a:pt x="2225095" y="24950"/>
                    </a:cubicBezTo>
                    <a:lnTo>
                      <a:pt x="2225095" y="1774408"/>
                    </a:lnTo>
                    <a:cubicBezTo>
                      <a:pt x="2225095" y="1781025"/>
                      <a:pt x="2222467" y="1787371"/>
                      <a:pt x="2217788" y="1792050"/>
                    </a:cubicBezTo>
                    <a:cubicBezTo>
                      <a:pt x="2213109" y="1796729"/>
                      <a:pt x="2206763" y="1799357"/>
                      <a:pt x="2200146" y="1799357"/>
                    </a:cubicBezTo>
                    <a:lnTo>
                      <a:pt x="24950" y="1799357"/>
                    </a:lnTo>
                    <a:cubicBezTo>
                      <a:pt x="18333" y="1799357"/>
                      <a:pt x="11987" y="1796729"/>
                      <a:pt x="7308" y="1792050"/>
                    </a:cubicBezTo>
                    <a:cubicBezTo>
                      <a:pt x="2629" y="1787371"/>
                      <a:pt x="0" y="1781025"/>
                      <a:pt x="0" y="1774408"/>
                    </a:cubicBezTo>
                    <a:lnTo>
                      <a:pt x="0" y="24950"/>
                    </a:lnTo>
                    <a:cubicBezTo>
                      <a:pt x="0" y="18333"/>
                      <a:pt x="2629" y="11987"/>
                      <a:pt x="7308" y="7308"/>
                    </a:cubicBezTo>
                    <a:cubicBezTo>
                      <a:pt x="11987" y="2629"/>
                      <a:pt x="18333" y="0"/>
                      <a:pt x="2495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rnd">
                <a:solidFill>
                  <a:srgbClr val="FE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2225095" cy="1837457"/>
              </a:xfrm>
              <a:prstGeom prst="rect">
                <a:avLst/>
              </a:prstGeom>
            </p:spPr>
            <p:txBody>
              <a:bodyPr lIns="46646" tIns="46646" rIns="46646" bIns="46646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10710968" y="1787957"/>
              <a:ext cx="10343353" cy="69308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96713" lvl="1" indent="-298356" algn="l">
                <a:lnSpc>
                  <a:spcPts val="3869"/>
                </a:lnSpc>
                <a:buFont typeface="Arial"/>
                <a:buChar char="•"/>
              </a:pPr>
              <a:r>
                <a:rPr lang="en-US" sz="2763" b="1" spc="-82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Methodology</a:t>
              </a:r>
              <a:r>
                <a:rPr lang="en-US" sz="2763" spc="-82">
                  <a:solidFill>
                    <a:srgbClr val="FEFFFF"/>
                  </a:solidFill>
                  <a:latin typeface="Quicksand"/>
                  <a:ea typeface="Quicksand"/>
                  <a:cs typeface="Quicksand"/>
                  <a:sym typeface="Quicksand"/>
                </a:rPr>
                <a:t>: Automated processing satellite images. </a:t>
              </a:r>
            </a:p>
            <a:p>
              <a:pPr marL="596713" lvl="1" indent="-298356" algn="l">
                <a:lnSpc>
                  <a:spcPts val="3869"/>
                </a:lnSpc>
                <a:buFont typeface="Arial"/>
                <a:buChar char="•"/>
              </a:pPr>
              <a:r>
                <a:rPr lang="en-US" sz="2763" b="1" spc="-245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Labor (OPEX):</a:t>
              </a:r>
              <a:r>
                <a:rPr lang="en-US" sz="2763" spc="-245">
                  <a:solidFill>
                    <a:srgbClr val="FEFFFF"/>
                  </a:solidFill>
                  <a:latin typeface="Quicksand"/>
                  <a:ea typeface="Quicksand"/>
                  <a:cs typeface="Quicksand"/>
                  <a:sym typeface="Quicksand"/>
                </a:rPr>
                <a:t> 1 Data Analyst x 2 hours/week x 52 weeks = €2,600</a:t>
              </a:r>
            </a:p>
            <a:p>
              <a:pPr marL="596713" lvl="1" indent="-298356" algn="l">
                <a:lnSpc>
                  <a:spcPts val="3869"/>
                </a:lnSpc>
                <a:buFont typeface="Arial"/>
                <a:buChar char="•"/>
              </a:pPr>
              <a:r>
                <a:rPr lang="en-US" sz="2763" b="1" spc="-82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Cloud Infrastructure:</a:t>
              </a:r>
              <a:r>
                <a:rPr lang="en-US" sz="2763" spc="-82">
                  <a:solidFill>
                    <a:srgbClr val="FEFFFF"/>
                  </a:solidFill>
                  <a:latin typeface="Quicksand"/>
                  <a:ea typeface="Quicksand"/>
                  <a:cs typeface="Quicksand"/>
                  <a:sym typeface="Quicksand"/>
                </a:rPr>
                <a:t> Storage for Historical Data Cubes + Computing Power = €1,200</a:t>
              </a:r>
            </a:p>
            <a:p>
              <a:pPr marL="596713" lvl="1" indent="-298356" algn="l">
                <a:lnSpc>
                  <a:spcPts val="3869"/>
                </a:lnSpc>
                <a:buFont typeface="Arial"/>
                <a:buChar char="•"/>
              </a:pPr>
              <a:r>
                <a:rPr lang="en-US" sz="2763" b="1" spc="-82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Targeted Verification:</a:t>
              </a:r>
              <a:r>
                <a:rPr lang="en-US" sz="2763" spc="-82">
                  <a:solidFill>
                    <a:srgbClr val="FEFFFF"/>
                  </a:solidFill>
                  <a:latin typeface="Quicksand"/>
                  <a:ea typeface="Quicksand"/>
                  <a:cs typeface="Quicksand"/>
                  <a:sym typeface="Quicksand"/>
                </a:rPr>
                <a:t> Estimated 4 "Red Flag" deployments per year (instead of 52) = €1,600</a:t>
              </a:r>
            </a:p>
            <a:p>
              <a:pPr marL="596713" lvl="1" indent="-298356" algn="l">
                <a:lnSpc>
                  <a:spcPts val="3869"/>
                </a:lnSpc>
                <a:buFont typeface="Arial"/>
                <a:buChar char="•"/>
              </a:pPr>
              <a:r>
                <a:rPr lang="en-US" sz="2763" b="1" spc="-82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Total Annual Cost: €5,400</a:t>
              </a:r>
            </a:p>
            <a:p>
              <a:pPr algn="l">
                <a:lnSpc>
                  <a:spcPts val="3869"/>
                </a:lnSpc>
              </a:pPr>
              <a:endParaRPr lang="en-US" sz="2763" b="1" spc="-82">
                <a:solidFill>
                  <a:srgbClr val="FEFFFF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  <a:p>
              <a:pPr algn="l">
                <a:lnSpc>
                  <a:spcPts val="2532"/>
                </a:lnSpc>
              </a:pPr>
              <a:endParaRPr lang="en-US" sz="2763" b="1" spc="-82">
                <a:solidFill>
                  <a:srgbClr val="FEFFFF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44346" y="1209675"/>
            <a:ext cx="10014653" cy="123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315"/>
              </a:lnSpc>
            </a:pPr>
            <a:r>
              <a:rPr lang="en-US" sz="9315" b="1" spc="-558" dirty="0">
                <a:solidFill>
                  <a:srgbClr val="FFD62E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Data Processing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507849" y="2687116"/>
            <a:ext cx="13272303" cy="6113984"/>
            <a:chOff x="0" y="0"/>
            <a:chExt cx="17696403" cy="8151978"/>
          </a:xfrm>
        </p:grpSpPr>
        <p:sp>
          <p:nvSpPr>
            <p:cNvPr id="4" name="Freeform 4"/>
            <p:cNvSpPr/>
            <p:nvPr/>
          </p:nvSpPr>
          <p:spPr>
            <a:xfrm>
              <a:off x="0" y="2335370"/>
              <a:ext cx="3957411" cy="2657883"/>
            </a:xfrm>
            <a:custGeom>
              <a:avLst/>
              <a:gdLst/>
              <a:ahLst/>
              <a:cxnLst/>
              <a:rect l="l" t="t" r="r" b="b"/>
              <a:pathLst>
                <a:path w="3957411" h="2657883">
                  <a:moveTo>
                    <a:pt x="0" y="0"/>
                  </a:moveTo>
                  <a:lnTo>
                    <a:pt x="3957411" y="0"/>
                  </a:lnTo>
                  <a:lnTo>
                    <a:pt x="3957411" y="2657883"/>
                  </a:lnTo>
                  <a:lnTo>
                    <a:pt x="0" y="2657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410830" y="2743612"/>
              <a:ext cx="2865892" cy="1736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99"/>
                </a:lnSpc>
              </a:pPr>
              <a:r>
                <a:rPr lang="en-US" sz="3552" b="1" spc="223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Gradient Analysis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4284752" y="2743612"/>
              <a:ext cx="2865892" cy="1736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99"/>
                </a:lnSpc>
              </a:pPr>
              <a:r>
                <a:rPr lang="en-US" sz="3552" b="1" spc="223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Output Map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6865070" y="2335370"/>
              <a:ext cx="3957411" cy="2657883"/>
            </a:xfrm>
            <a:custGeom>
              <a:avLst/>
              <a:gdLst/>
              <a:ahLst/>
              <a:cxnLst/>
              <a:rect l="l" t="t" r="r" b="b"/>
              <a:pathLst>
                <a:path w="3957411" h="2657883">
                  <a:moveTo>
                    <a:pt x="0" y="0"/>
                  </a:moveTo>
                  <a:lnTo>
                    <a:pt x="3957411" y="0"/>
                  </a:lnTo>
                  <a:lnTo>
                    <a:pt x="3957411" y="2657883"/>
                  </a:lnTo>
                  <a:lnTo>
                    <a:pt x="0" y="2657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13738992" y="2335370"/>
              <a:ext cx="3957411" cy="2657883"/>
            </a:xfrm>
            <a:custGeom>
              <a:avLst/>
              <a:gdLst/>
              <a:ahLst/>
              <a:cxnLst/>
              <a:rect l="l" t="t" r="r" b="b"/>
              <a:pathLst>
                <a:path w="3957411" h="2657883">
                  <a:moveTo>
                    <a:pt x="0" y="0"/>
                  </a:moveTo>
                  <a:lnTo>
                    <a:pt x="3957411" y="0"/>
                  </a:lnTo>
                  <a:lnTo>
                    <a:pt x="3957411" y="2657883"/>
                  </a:lnTo>
                  <a:lnTo>
                    <a:pt x="0" y="2657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8860044" y="848085"/>
              <a:ext cx="0" cy="1487285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15735819" y="848085"/>
              <a:ext cx="0" cy="1487285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8836239" y="824695"/>
              <a:ext cx="6929076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11735118" y="653552"/>
              <a:ext cx="684573" cy="342286"/>
              <a:chOff x="0" y="0"/>
              <a:chExt cx="812800" cy="4064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0" y="203200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812800" y="203200"/>
                    </a:lnTo>
                    <a:lnTo>
                      <a:pt x="812800" y="203200"/>
                    </a:lnTo>
                    <a:lnTo>
                      <a:pt x="406400" y="203200"/>
                    </a:lnTo>
                    <a:lnTo>
                      <a:pt x="406400" y="406400"/>
                    </a:lnTo>
                    <a:lnTo>
                      <a:pt x="0" y="2032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1600" y="165100"/>
                <a:ext cx="711200" cy="38100"/>
              </a:xfrm>
              <a:prstGeom prst="rect">
                <a:avLst/>
              </a:prstGeom>
            </p:spPr>
            <p:txBody>
              <a:bodyPr lIns="46780" tIns="46780" rIns="46780" bIns="4678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5400000">
              <a:off x="8517758" y="1821940"/>
              <a:ext cx="684573" cy="342286"/>
              <a:chOff x="0" y="0"/>
              <a:chExt cx="812800" cy="4064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0" y="203200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812800" y="203200"/>
                    </a:lnTo>
                    <a:lnTo>
                      <a:pt x="812800" y="203200"/>
                    </a:lnTo>
                    <a:lnTo>
                      <a:pt x="406400" y="203200"/>
                    </a:lnTo>
                    <a:lnTo>
                      <a:pt x="406400" y="406400"/>
                    </a:lnTo>
                    <a:lnTo>
                      <a:pt x="0" y="2032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1600" y="165100"/>
                <a:ext cx="711200" cy="38100"/>
              </a:xfrm>
              <a:prstGeom prst="rect">
                <a:avLst/>
              </a:prstGeom>
            </p:spPr>
            <p:txBody>
              <a:bodyPr lIns="46780" tIns="46780" rIns="46780" bIns="4678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5400000">
              <a:off x="15393532" y="1724432"/>
              <a:ext cx="684573" cy="342286"/>
              <a:chOff x="0" y="0"/>
              <a:chExt cx="812800" cy="4064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0" y="203200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812800" y="203200"/>
                    </a:lnTo>
                    <a:lnTo>
                      <a:pt x="812800" y="203200"/>
                    </a:lnTo>
                    <a:lnTo>
                      <a:pt x="406400" y="203200"/>
                    </a:lnTo>
                    <a:lnTo>
                      <a:pt x="406400" y="406400"/>
                    </a:lnTo>
                    <a:lnTo>
                      <a:pt x="0" y="2032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1600" y="165100"/>
                <a:ext cx="711200" cy="38100"/>
              </a:xfrm>
              <a:prstGeom prst="rect">
                <a:avLst/>
              </a:prstGeom>
            </p:spPr>
            <p:txBody>
              <a:bodyPr lIns="46780" tIns="46780" rIns="46780" bIns="4678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842410" y="5549572"/>
              <a:ext cx="1434018" cy="1861355"/>
            </a:xfrm>
            <a:custGeom>
              <a:avLst/>
              <a:gdLst/>
              <a:ahLst/>
              <a:cxnLst/>
              <a:rect l="l" t="t" r="r" b="b"/>
              <a:pathLst>
                <a:path w="1434018" h="1861355">
                  <a:moveTo>
                    <a:pt x="0" y="0"/>
                  </a:moveTo>
                  <a:lnTo>
                    <a:pt x="1434018" y="0"/>
                  </a:lnTo>
                  <a:lnTo>
                    <a:pt x="1434018" y="1861355"/>
                  </a:lnTo>
                  <a:lnTo>
                    <a:pt x="0" y="1861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7327" y="2743612"/>
              <a:ext cx="3722758" cy="1736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99"/>
                </a:lnSpc>
              </a:pPr>
              <a:r>
                <a:rPr lang="en-US" sz="3552" b="1" spc="223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Raw Data Acquisition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700681" y="-85725"/>
              <a:ext cx="3438021" cy="5990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5"/>
                </a:lnSpc>
              </a:pPr>
              <a:r>
                <a:rPr lang="en-US" sz="2569" b="1" spc="161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improvements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4219" y="7552891"/>
              <a:ext cx="3208972" cy="5990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5"/>
                </a:lnSpc>
              </a:pPr>
              <a:r>
                <a:rPr lang="en-US" sz="2569" b="1" spc="161">
                  <a:solidFill>
                    <a:srgbClr val="FF3131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011011010111...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49866" y="6137844"/>
              <a:ext cx="3861427" cy="5990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05"/>
                </a:lnSpc>
              </a:pPr>
              <a:r>
                <a:rPr lang="en-US" sz="2569" b="1" spc="161">
                  <a:solidFill>
                    <a:srgbClr val="FF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.tiff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06847" y="5930789"/>
              <a:ext cx="2258783" cy="965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301"/>
                </a:lnSpc>
              </a:pPr>
              <a:r>
                <a:rPr lang="en-US" sz="4145" spc="261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| ∇ ∙ </a:t>
              </a:r>
              <a:r>
                <a:rPr lang="en-US" sz="4145" i="1" spc="261">
                  <a:solidFill>
                    <a:srgbClr val="FFFFFF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f </a:t>
              </a:r>
              <a:r>
                <a:rPr lang="en-US" sz="4145" spc="261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|</a:t>
              </a:r>
            </a:p>
          </p:txBody>
        </p:sp>
        <p:sp>
          <p:nvSpPr>
            <p:cNvPr id="27" name="AutoShape 27"/>
            <p:cNvSpPr/>
            <p:nvPr/>
          </p:nvSpPr>
          <p:spPr>
            <a:xfrm>
              <a:off x="3957411" y="3664312"/>
              <a:ext cx="2907659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10773516" y="3638912"/>
              <a:ext cx="3014442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" name="Group 29"/>
            <p:cNvGrpSpPr/>
            <p:nvPr/>
          </p:nvGrpSpPr>
          <p:grpSpPr>
            <a:xfrm rot="-10800000">
              <a:off x="4580579" y="3407597"/>
              <a:ext cx="1026859" cy="513430"/>
              <a:chOff x="0" y="0"/>
              <a:chExt cx="812800" cy="4064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0" y="203200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812800" y="203200"/>
                    </a:lnTo>
                    <a:lnTo>
                      <a:pt x="812800" y="203200"/>
                    </a:lnTo>
                    <a:lnTo>
                      <a:pt x="406400" y="203200"/>
                    </a:lnTo>
                    <a:lnTo>
                      <a:pt x="406400" y="406400"/>
                    </a:lnTo>
                    <a:lnTo>
                      <a:pt x="0" y="2032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01600" y="165100"/>
                <a:ext cx="711200" cy="38100"/>
              </a:xfrm>
              <a:prstGeom prst="rect">
                <a:avLst/>
              </a:prstGeom>
            </p:spPr>
            <p:txBody>
              <a:bodyPr lIns="46780" tIns="46780" rIns="46780" bIns="4678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 rot="-10800000">
              <a:off x="11559081" y="3407597"/>
              <a:ext cx="1026859" cy="513430"/>
              <a:chOff x="0" y="0"/>
              <a:chExt cx="812800" cy="4064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0" y="203200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812800" y="203200"/>
                    </a:lnTo>
                    <a:lnTo>
                      <a:pt x="812800" y="203200"/>
                    </a:lnTo>
                    <a:lnTo>
                      <a:pt x="406400" y="203200"/>
                    </a:lnTo>
                    <a:lnTo>
                      <a:pt x="406400" y="406400"/>
                    </a:lnTo>
                    <a:lnTo>
                      <a:pt x="0" y="2032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1600" y="165100"/>
                <a:ext cx="711200" cy="38100"/>
              </a:xfrm>
              <a:prstGeom prst="rect">
                <a:avLst/>
              </a:prstGeom>
            </p:spPr>
            <p:txBody>
              <a:bodyPr lIns="46780" tIns="46780" rIns="46780" bIns="4678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61379" y="998185"/>
            <a:ext cx="12397921" cy="8260115"/>
          </a:xfrm>
          <a:custGeom>
            <a:avLst/>
            <a:gdLst/>
            <a:ahLst/>
            <a:cxnLst/>
            <a:rect l="l" t="t" r="r" b="b"/>
            <a:pathLst>
              <a:path w="12397921" h="8260115">
                <a:moveTo>
                  <a:pt x="0" y="0"/>
                </a:moveTo>
                <a:lnTo>
                  <a:pt x="12397921" y="0"/>
                </a:lnTo>
                <a:lnTo>
                  <a:pt x="12397921" y="8260115"/>
                </a:lnTo>
                <a:lnTo>
                  <a:pt x="0" y="82601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438843"/>
            <a:ext cx="3483982" cy="175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84"/>
              </a:lnSpc>
            </a:pPr>
            <a:r>
              <a:rPr lang="en-US" sz="6784" b="1" spc="-407">
                <a:solidFill>
                  <a:srgbClr val="FFD62E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Proof of concept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661122"/>
            <a:ext cx="3483982" cy="1909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67"/>
              </a:lnSpc>
            </a:pPr>
            <a:r>
              <a:rPr lang="en-US" sz="3399" spc="214">
                <a:solidFill>
                  <a:srgbClr val="FEFFFF"/>
                </a:solidFill>
                <a:latin typeface="Quicksand"/>
                <a:ea typeface="Quicksand"/>
                <a:cs typeface="Quicksand"/>
                <a:sym typeface="Quicksand"/>
              </a:rPr>
              <a:t>Results using synthetic input bitmaps: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34226" y="339988"/>
            <a:ext cx="14419547" cy="9607023"/>
          </a:xfrm>
          <a:custGeom>
            <a:avLst/>
            <a:gdLst/>
            <a:ahLst/>
            <a:cxnLst/>
            <a:rect l="l" t="t" r="r" b="b"/>
            <a:pathLst>
              <a:path w="14419547" h="9607023">
                <a:moveTo>
                  <a:pt x="0" y="0"/>
                </a:moveTo>
                <a:lnTo>
                  <a:pt x="14419548" y="0"/>
                </a:lnTo>
                <a:lnTo>
                  <a:pt x="14419548" y="9607024"/>
                </a:lnTo>
                <a:lnTo>
                  <a:pt x="0" y="9607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6241" y="163949"/>
            <a:ext cx="16095518" cy="9959102"/>
          </a:xfrm>
          <a:custGeom>
            <a:avLst/>
            <a:gdLst/>
            <a:ahLst/>
            <a:cxnLst/>
            <a:rect l="l" t="t" r="r" b="b"/>
            <a:pathLst>
              <a:path w="16095518" h="9959102">
                <a:moveTo>
                  <a:pt x="0" y="0"/>
                </a:moveTo>
                <a:lnTo>
                  <a:pt x="16095518" y="0"/>
                </a:lnTo>
                <a:lnTo>
                  <a:pt x="16095518" y="9959102"/>
                </a:lnTo>
                <a:lnTo>
                  <a:pt x="0" y="9959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572681"/>
            <a:ext cx="16329453" cy="4464263"/>
            <a:chOff x="0" y="0"/>
            <a:chExt cx="21772604" cy="5952350"/>
          </a:xfrm>
        </p:grpSpPr>
        <p:sp>
          <p:nvSpPr>
            <p:cNvPr id="3" name="Freeform 3"/>
            <p:cNvSpPr/>
            <p:nvPr/>
          </p:nvSpPr>
          <p:spPr>
            <a:xfrm>
              <a:off x="0" y="353201"/>
              <a:ext cx="7295974" cy="5599149"/>
            </a:xfrm>
            <a:custGeom>
              <a:avLst/>
              <a:gdLst/>
              <a:ahLst/>
              <a:cxnLst/>
              <a:rect l="l" t="t" r="r" b="b"/>
              <a:pathLst>
                <a:path w="7295974" h="5599149">
                  <a:moveTo>
                    <a:pt x="0" y="0"/>
                  </a:moveTo>
                  <a:lnTo>
                    <a:pt x="7295974" y="0"/>
                  </a:lnTo>
                  <a:lnTo>
                    <a:pt x="7295974" y="5599149"/>
                  </a:lnTo>
                  <a:lnTo>
                    <a:pt x="0" y="5599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001" t="-16058" r="-224613" b="-15211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7295974" y="0"/>
              <a:ext cx="7398886" cy="5952350"/>
            </a:xfrm>
            <a:custGeom>
              <a:avLst/>
              <a:gdLst/>
              <a:ahLst/>
              <a:cxnLst/>
              <a:rect l="l" t="t" r="r" b="b"/>
              <a:pathLst>
                <a:path w="7398886" h="5952350">
                  <a:moveTo>
                    <a:pt x="0" y="0"/>
                  </a:moveTo>
                  <a:lnTo>
                    <a:pt x="7398887" y="0"/>
                  </a:lnTo>
                  <a:lnTo>
                    <a:pt x="7398887" y="5952350"/>
                  </a:lnTo>
                  <a:lnTo>
                    <a:pt x="0" y="5952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5149" t="-9171" r="-2838" b="-14308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14694861" y="174483"/>
              <a:ext cx="7077743" cy="5603384"/>
            </a:xfrm>
            <a:custGeom>
              <a:avLst/>
              <a:gdLst/>
              <a:ahLst/>
              <a:cxnLst/>
              <a:rect l="l" t="t" r="r" b="b"/>
              <a:pathLst>
                <a:path w="7077743" h="5603384">
                  <a:moveTo>
                    <a:pt x="0" y="0"/>
                  </a:moveTo>
                  <a:lnTo>
                    <a:pt x="7077743" y="0"/>
                  </a:lnTo>
                  <a:lnTo>
                    <a:pt x="7077743" y="5603384"/>
                  </a:lnTo>
                  <a:lnTo>
                    <a:pt x="0" y="5603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3683" t="-137706" r="-1475" b="-1642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379921" y="1719180"/>
            <a:ext cx="6345479" cy="1236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315"/>
              </a:lnSpc>
            </a:pPr>
            <a:r>
              <a:rPr lang="en-US" sz="9315" b="1" spc="-558" dirty="0">
                <a:solidFill>
                  <a:srgbClr val="FFD62E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Limitations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56485"/>
            <a:ext cx="8289970" cy="1017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0"/>
              </a:lnSpc>
            </a:pPr>
            <a:r>
              <a:rPr lang="en-US" sz="7690" b="1" spc="-461">
                <a:solidFill>
                  <a:srgbClr val="FFD62E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SWOT analysis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92057" y="2766060"/>
            <a:ext cx="16703887" cy="6492240"/>
            <a:chOff x="0" y="0"/>
            <a:chExt cx="22271849" cy="8656320"/>
          </a:xfrm>
        </p:grpSpPr>
        <p:sp>
          <p:nvSpPr>
            <p:cNvPr id="4" name="TextBox 4"/>
            <p:cNvSpPr txBox="1"/>
            <p:nvPr/>
          </p:nvSpPr>
          <p:spPr>
            <a:xfrm>
              <a:off x="368148" y="91937"/>
              <a:ext cx="9631473" cy="3717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80"/>
                </a:lnSpc>
              </a:pPr>
              <a:r>
                <a:rPr lang="en-US" sz="3762" b="1" spc="79">
                  <a:solidFill>
                    <a:srgbClr val="FFD62E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S</a:t>
              </a:r>
            </a:p>
            <a:p>
              <a:pPr marL="812221" lvl="1" indent="-406110" algn="l">
                <a:lnSpc>
                  <a:spcPts val="5680"/>
                </a:lnSpc>
                <a:buFont typeface="Arial"/>
                <a:buChar char="•"/>
              </a:pPr>
              <a:r>
                <a:rPr lang="en-US" sz="3762" b="1" spc="79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Drastic Cost Reduction</a:t>
              </a:r>
            </a:p>
            <a:p>
              <a:pPr marL="812221" lvl="1" indent="-406110" algn="l">
                <a:lnSpc>
                  <a:spcPts val="5680"/>
                </a:lnSpc>
                <a:buFont typeface="Arial"/>
                <a:buChar char="•"/>
              </a:pPr>
              <a:r>
                <a:rPr lang="en-US" sz="3762" b="1" spc="79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Operational Scalability</a:t>
              </a:r>
            </a:p>
            <a:p>
              <a:pPr marL="812221" lvl="1" indent="-406110" algn="l">
                <a:lnSpc>
                  <a:spcPts val="5680"/>
                </a:lnSpc>
                <a:buFont typeface="Arial"/>
                <a:buChar char="•"/>
              </a:pPr>
              <a:r>
                <a:rPr lang="en-US" sz="3762" b="1" spc="79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Custom Dataset Flexibility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74926" y="4742314"/>
              <a:ext cx="9217918" cy="1812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80"/>
                </a:lnSpc>
              </a:pPr>
              <a:r>
                <a:rPr lang="en-US" sz="3762" b="1" spc="79">
                  <a:solidFill>
                    <a:srgbClr val="FFD62E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W</a:t>
              </a:r>
            </a:p>
            <a:p>
              <a:pPr marL="812221" lvl="1" indent="-406110" algn="l">
                <a:lnSpc>
                  <a:spcPts val="5680"/>
                </a:lnSpc>
                <a:buFont typeface="Arial"/>
                <a:buChar char="•"/>
              </a:pPr>
              <a:r>
                <a:rPr lang="en-US" sz="3762" b="1" spc="79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High Noise Sensivity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717011" y="91937"/>
              <a:ext cx="11458009" cy="3349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80"/>
                </a:lnSpc>
              </a:pPr>
              <a:r>
                <a:rPr lang="en-US" sz="3762" b="1" spc="79">
                  <a:solidFill>
                    <a:srgbClr val="FFD62E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O</a:t>
              </a:r>
            </a:p>
            <a:p>
              <a:pPr marL="704273" lvl="1" indent="-352137" algn="l">
                <a:lnSpc>
                  <a:spcPts val="4925"/>
                </a:lnSpc>
                <a:buFont typeface="Arial"/>
                <a:buChar char="•"/>
              </a:pPr>
              <a:r>
                <a:rPr lang="en-US" sz="3262" b="1" spc="68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Request for cost-effective, low-computational-power solutions for Ecological Monitoring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820400" y="4742314"/>
              <a:ext cx="9217918" cy="3423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80"/>
                </a:lnSpc>
              </a:pPr>
              <a:r>
                <a:rPr lang="en-US" sz="3762" b="1" spc="79">
                  <a:solidFill>
                    <a:srgbClr val="FFD62E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T</a:t>
              </a:r>
            </a:p>
            <a:p>
              <a:pPr marL="725863" lvl="1" indent="-362931" algn="l">
                <a:lnSpc>
                  <a:spcPts val="5076"/>
                </a:lnSpc>
                <a:buFont typeface="Arial"/>
                <a:buChar char="•"/>
              </a:pPr>
              <a:r>
                <a:rPr lang="en-US" sz="3362" b="1" spc="70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API Dependency &amp; Limits</a:t>
              </a:r>
            </a:p>
            <a:p>
              <a:pPr marL="725863" lvl="1" indent="-362931" algn="l">
                <a:lnSpc>
                  <a:spcPts val="5076"/>
                </a:lnSpc>
                <a:buFont typeface="Arial"/>
                <a:buChar char="•"/>
              </a:pPr>
              <a:r>
                <a:rPr lang="en-US" sz="3362" b="1" spc="70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Limited National Space Infrastructure</a:t>
              </a:r>
            </a:p>
          </p:txBody>
        </p:sp>
        <p:sp>
          <p:nvSpPr>
            <p:cNvPr id="8" name="AutoShape 8"/>
            <p:cNvSpPr/>
            <p:nvPr/>
          </p:nvSpPr>
          <p:spPr>
            <a:xfrm>
              <a:off x="0" y="4328160"/>
              <a:ext cx="22271849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>
              <a:off x="10358316" y="0"/>
              <a:ext cx="0" cy="865632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761" y="1335183"/>
            <a:ext cx="6173804" cy="7616633"/>
            <a:chOff x="0" y="0"/>
            <a:chExt cx="1842676" cy="22733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42676" cy="2273313"/>
            </a:xfrm>
            <a:custGeom>
              <a:avLst/>
              <a:gdLst/>
              <a:ahLst/>
              <a:cxnLst/>
              <a:rect l="l" t="t" r="r" b="b"/>
              <a:pathLst>
                <a:path w="1842676" h="2273313">
                  <a:moveTo>
                    <a:pt x="1428413" y="38122"/>
                  </a:moveTo>
                  <a:cubicBezTo>
                    <a:pt x="1406714" y="13865"/>
                    <a:pt x="1375709" y="0"/>
                    <a:pt x="1257238" y="0"/>
                  </a:cubicBezTo>
                  <a:lnTo>
                    <a:pt x="528968" y="0"/>
                  </a:lnTo>
                  <a:cubicBezTo>
                    <a:pt x="465795" y="0"/>
                    <a:pt x="414584" y="51211"/>
                    <a:pt x="414584" y="114384"/>
                  </a:cubicBezTo>
                  <a:lnTo>
                    <a:pt x="414584" y="386829"/>
                  </a:lnTo>
                  <a:cubicBezTo>
                    <a:pt x="414584" y="417166"/>
                    <a:pt x="402533" y="446260"/>
                    <a:pt x="381081" y="467712"/>
                  </a:cubicBezTo>
                  <a:cubicBezTo>
                    <a:pt x="359630" y="489163"/>
                    <a:pt x="330536" y="501214"/>
                    <a:pt x="300199" y="501214"/>
                  </a:cubicBezTo>
                  <a:lnTo>
                    <a:pt x="114384" y="501214"/>
                  </a:lnTo>
                  <a:cubicBezTo>
                    <a:pt x="84047" y="501214"/>
                    <a:pt x="54953" y="513266"/>
                    <a:pt x="33502" y="534717"/>
                  </a:cubicBezTo>
                  <a:cubicBezTo>
                    <a:pt x="12051" y="556168"/>
                    <a:pt x="0" y="585262"/>
                    <a:pt x="0" y="615598"/>
                  </a:cubicBezTo>
                  <a:lnTo>
                    <a:pt x="0" y="1662539"/>
                  </a:lnTo>
                  <a:cubicBezTo>
                    <a:pt x="0" y="1690678"/>
                    <a:pt x="10372" y="1717829"/>
                    <a:pt x="29133" y="1738801"/>
                  </a:cubicBezTo>
                  <a:lnTo>
                    <a:pt x="248999" y="1984585"/>
                  </a:lnTo>
                  <a:cubicBezTo>
                    <a:pt x="270698" y="2008842"/>
                    <a:pt x="301704" y="2022706"/>
                    <a:pt x="334250" y="2022706"/>
                  </a:cubicBezTo>
                  <a:lnTo>
                    <a:pt x="587615" y="2022706"/>
                  </a:lnTo>
                  <a:cubicBezTo>
                    <a:pt x="620162" y="2022706"/>
                    <a:pt x="651168" y="2036571"/>
                    <a:pt x="672868" y="2060829"/>
                  </a:cubicBezTo>
                  <a:lnTo>
                    <a:pt x="828844" y="2235191"/>
                  </a:lnTo>
                  <a:cubicBezTo>
                    <a:pt x="850543" y="2259448"/>
                    <a:pt x="881549" y="2273313"/>
                    <a:pt x="914095" y="2273313"/>
                  </a:cubicBezTo>
                  <a:lnTo>
                    <a:pt x="1728291" y="2273313"/>
                  </a:lnTo>
                  <a:cubicBezTo>
                    <a:pt x="1758628" y="2273313"/>
                    <a:pt x="1787722" y="2261262"/>
                    <a:pt x="1809173" y="2239811"/>
                  </a:cubicBezTo>
                  <a:cubicBezTo>
                    <a:pt x="1830625" y="2218360"/>
                    <a:pt x="1842676" y="2189266"/>
                    <a:pt x="1842676" y="2158929"/>
                  </a:cubicBezTo>
                  <a:lnTo>
                    <a:pt x="1842676" y="2022706"/>
                  </a:lnTo>
                  <a:lnTo>
                    <a:pt x="1842676" y="567445"/>
                  </a:lnTo>
                  <a:cubicBezTo>
                    <a:pt x="1842676" y="524794"/>
                    <a:pt x="1826954" y="483639"/>
                    <a:pt x="1798518" y="451851"/>
                  </a:cubicBezTo>
                  <a:close/>
                </a:path>
              </a:pathLst>
            </a:custGeom>
            <a:blipFill>
              <a:blip r:embed="rId2"/>
              <a:stretch>
                <a:fillRect l="-43639" r="-4363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1641667"/>
            <a:ext cx="9351258" cy="5381871"/>
            <a:chOff x="0" y="0"/>
            <a:chExt cx="12468345" cy="7175828"/>
          </a:xfrm>
        </p:grpSpPr>
        <p:grpSp>
          <p:nvGrpSpPr>
            <p:cNvPr id="5" name="Group 5"/>
            <p:cNvGrpSpPr/>
            <p:nvPr/>
          </p:nvGrpSpPr>
          <p:grpSpPr>
            <a:xfrm>
              <a:off x="825012" y="2823918"/>
              <a:ext cx="10818321" cy="238590"/>
              <a:chOff x="0" y="0"/>
              <a:chExt cx="2136952" cy="4712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2136952" cy="47129"/>
              </a:xfrm>
              <a:custGeom>
                <a:avLst/>
                <a:gdLst/>
                <a:ahLst/>
                <a:cxnLst/>
                <a:rect l="l" t="t" r="r" b="b"/>
                <a:pathLst>
                  <a:path w="2136952" h="47129">
                    <a:moveTo>
                      <a:pt x="23564" y="0"/>
                    </a:moveTo>
                    <a:lnTo>
                      <a:pt x="2113388" y="0"/>
                    </a:lnTo>
                    <a:cubicBezTo>
                      <a:pt x="2126402" y="0"/>
                      <a:pt x="2136952" y="10550"/>
                      <a:pt x="2136952" y="23564"/>
                    </a:cubicBezTo>
                    <a:lnTo>
                      <a:pt x="2136952" y="23564"/>
                    </a:lnTo>
                    <a:cubicBezTo>
                      <a:pt x="2136952" y="29814"/>
                      <a:pt x="2134470" y="35808"/>
                      <a:pt x="2130050" y="40227"/>
                    </a:cubicBezTo>
                    <a:cubicBezTo>
                      <a:pt x="2125631" y="44646"/>
                      <a:pt x="2119637" y="47129"/>
                      <a:pt x="2113388" y="47129"/>
                    </a:cubicBezTo>
                    <a:lnTo>
                      <a:pt x="23564" y="47129"/>
                    </a:lnTo>
                    <a:cubicBezTo>
                      <a:pt x="10550" y="47129"/>
                      <a:pt x="0" y="36579"/>
                      <a:pt x="0" y="23564"/>
                    </a:cubicBezTo>
                    <a:lnTo>
                      <a:pt x="0" y="23564"/>
                    </a:lnTo>
                    <a:cubicBezTo>
                      <a:pt x="0" y="10550"/>
                      <a:pt x="10550" y="0"/>
                      <a:pt x="23564" y="0"/>
                    </a:cubicBezTo>
                    <a:close/>
                  </a:path>
                </a:pathLst>
              </a:custGeom>
              <a:solidFill>
                <a:srgbClr val="FFD62E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2136952" cy="947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321208" y="247650"/>
              <a:ext cx="11825928" cy="23743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2922"/>
                </a:lnSpc>
                <a:spcBef>
                  <a:spcPct val="0"/>
                </a:spcBef>
              </a:pPr>
              <a:r>
                <a:rPr lang="en-US" sz="12922" b="1" spc="-775">
                  <a:solidFill>
                    <a:srgbClr val="FE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C</a:t>
              </a:r>
              <a:r>
                <a:rPr lang="en-US" sz="12922" b="1" u="none" strike="noStrike" spc="-775">
                  <a:solidFill>
                    <a:srgbClr val="FEFFFF"/>
                  </a:solidFill>
                  <a:latin typeface="Open Sauce Medium"/>
                  <a:ea typeface="Open Sauce Medium"/>
                  <a:cs typeface="Open Sauce Medium"/>
                  <a:sym typeface="Open Sauce Medium"/>
                </a:rPr>
                <a:t>onclusion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590026"/>
              <a:ext cx="12468345" cy="35858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3410" lvl="1" indent="-281705" algn="l">
                <a:lnSpc>
                  <a:spcPts val="3653"/>
                </a:lnSpc>
                <a:buFont typeface="Arial"/>
                <a:buChar char="•"/>
              </a:pPr>
              <a:r>
                <a:rPr lang="en-US" sz="2609" b="1" spc="-78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Statistical Validation</a:t>
              </a:r>
            </a:p>
            <a:p>
              <a:pPr marL="563410" lvl="1" indent="-281705" algn="l">
                <a:lnSpc>
                  <a:spcPts val="3653"/>
                </a:lnSpc>
                <a:buFont typeface="Arial"/>
                <a:buChar char="•"/>
              </a:pPr>
              <a:r>
                <a:rPr lang="en-US" sz="2609" b="1" spc="-78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Cost Reduction:</a:t>
              </a:r>
              <a:r>
                <a:rPr lang="en-US" sz="2609" spc="-78">
                  <a:solidFill>
                    <a:srgbClr val="FEFFFF"/>
                  </a:solidFill>
                  <a:latin typeface="Quicksand"/>
                  <a:ea typeface="Quicksand"/>
                  <a:cs typeface="Quicksand"/>
                  <a:sym typeface="Quicksand"/>
                </a:rPr>
                <a:t> an ~80% reduction in annual operational costs</a:t>
              </a:r>
            </a:p>
            <a:p>
              <a:pPr marL="563410" lvl="1" indent="-281705" algn="l">
                <a:lnSpc>
                  <a:spcPts val="3653"/>
                </a:lnSpc>
                <a:buFont typeface="Arial"/>
                <a:buChar char="•"/>
              </a:pPr>
              <a:r>
                <a:rPr lang="en-US" sz="2609" b="1" spc="-78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Scalability</a:t>
              </a:r>
              <a:r>
                <a:rPr lang="en-US" sz="2609" spc="-78">
                  <a:solidFill>
                    <a:srgbClr val="FEFFFF"/>
                  </a:solidFill>
                  <a:latin typeface="Quicksand"/>
                  <a:ea typeface="Quicksand"/>
                  <a:cs typeface="Quicksand"/>
                  <a:sym typeface="Quicksand"/>
                </a:rPr>
                <a:t>: One-time R&amp;D investment </a:t>
              </a:r>
            </a:p>
            <a:p>
              <a:pPr marL="563410" lvl="1" indent="-281705" algn="l">
                <a:lnSpc>
                  <a:spcPts val="3653"/>
                </a:lnSpc>
                <a:buFont typeface="Arial"/>
                <a:buChar char="•"/>
              </a:pPr>
              <a:r>
                <a:rPr lang="en-US" sz="2609" b="1" spc="-78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Efficiency:</a:t>
              </a:r>
              <a:r>
                <a:rPr lang="en-US" sz="2609" spc="-78">
                  <a:solidFill>
                    <a:srgbClr val="FEFFFF"/>
                  </a:solidFill>
                  <a:latin typeface="Quicksand"/>
                  <a:ea typeface="Quicksand"/>
                  <a:cs typeface="Quicksand"/>
                  <a:sym typeface="Quicksand"/>
                </a:rPr>
                <a:t> from spot checks to continuous monitoring.</a:t>
              </a:r>
            </a:p>
            <a:p>
              <a:pPr algn="l">
                <a:lnSpc>
                  <a:spcPts val="3261"/>
                </a:lnSpc>
                <a:spcBef>
                  <a:spcPct val="0"/>
                </a:spcBef>
              </a:pPr>
              <a:endParaRPr lang="en-US" sz="2609" spc="-78">
                <a:solidFill>
                  <a:srgbClr val="FEFFFF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76686" y="1481307"/>
            <a:ext cx="19441371" cy="21876416"/>
            <a:chOff x="0" y="0"/>
            <a:chExt cx="25921828" cy="29168555"/>
          </a:xfrm>
        </p:grpSpPr>
        <p:sp>
          <p:nvSpPr>
            <p:cNvPr id="3" name="Freeform 3"/>
            <p:cNvSpPr/>
            <p:nvPr/>
          </p:nvSpPr>
          <p:spPr>
            <a:xfrm>
              <a:off x="0" y="3246727"/>
              <a:ext cx="25921828" cy="25921828"/>
            </a:xfrm>
            <a:custGeom>
              <a:avLst/>
              <a:gdLst/>
              <a:ahLst/>
              <a:cxnLst/>
              <a:rect l="l" t="t" r="r" b="b"/>
              <a:pathLst>
                <a:path w="25921828" h="25921828">
                  <a:moveTo>
                    <a:pt x="0" y="0"/>
                  </a:moveTo>
                  <a:lnTo>
                    <a:pt x="25921828" y="0"/>
                  </a:lnTo>
                  <a:lnTo>
                    <a:pt x="25921828" y="25921828"/>
                  </a:lnTo>
                  <a:lnTo>
                    <a:pt x="0" y="259218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4480845" y="1084600"/>
              <a:ext cx="524962" cy="5527874"/>
              <a:chOff x="0" y="0"/>
              <a:chExt cx="106505" cy="112150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06505" cy="1121502"/>
              </a:xfrm>
              <a:custGeom>
                <a:avLst/>
                <a:gdLst/>
                <a:ahLst/>
                <a:cxnLst/>
                <a:rect l="l" t="t" r="r" b="b"/>
                <a:pathLst>
                  <a:path w="106505" h="1121502">
                    <a:moveTo>
                      <a:pt x="53252" y="0"/>
                    </a:moveTo>
                    <a:lnTo>
                      <a:pt x="53252" y="0"/>
                    </a:lnTo>
                    <a:cubicBezTo>
                      <a:pt x="67376" y="0"/>
                      <a:pt x="80921" y="5611"/>
                      <a:pt x="90908" y="15597"/>
                    </a:cubicBezTo>
                    <a:cubicBezTo>
                      <a:pt x="100894" y="25584"/>
                      <a:pt x="106505" y="39129"/>
                      <a:pt x="106505" y="53252"/>
                    </a:cubicBezTo>
                    <a:lnTo>
                      <a:pt x="106505" y="1068249"/>
                    </a:lnTo>
                    <a:cubicBezTo>
                      <a:pt x="106505" y="1082373"/>
                      <a:pt x="100894" y="1095918"/>
                      <a:pt x="90908" y="1105904"/>
                    </a:cubicBezTo>
                    <a:cubicBezTo>
                      <a:pt x="80921" y="1115891"/>
                      <a:pt x="67376" y="1121502"/>
                      <a:pt x="53252" y="1121502"/>
                    </a:cubicBezTo>
                    <a:lnTo>
                      <a:pt x="53252" y="1121502"/>
                    </a:lnTo>
                    <a:cubicBezTo>
                      <a:pt x="39129" y="1121502"/>
                      <a:pt x="25584" y="1115891"/>
                      <a:pt x="15597" y="1105904"/>
                    </a:cubicBezTo>
                    <a:cubicBezTo>
                      <a:pt x="5611" y="1095918"/>
                      <a:pt x="0" y="1082373"/>
                      <a:pt x="0" y="1068249"/>
                    </a:cubicBezTo>
                    <a:lnTo>
                      <a:pt x="0" y="53252"/>
                    </a:lnTo>
                    <a:cubicBezTo>
                      <a:pt x="0" y="39129"/>
                      <a:pt x="5611" y="25584"/>
                      <a:pt x="15597" y="15597"/>
                    </a:cubicBezTo>
                    <a:cubicBezTo>
                      <a:pt x="25584" y="5611"/>
                      <a:pt x="39129" y="0"/>
                      <a:pt x="53252" y="0"/>
                    </a:cubicBezTo>
                    <a:close/>
                  </a:path>
                </a:pathLst>
              </a:custGeom>
              <a:solidFill>
                <a:srgbClr val="FFD62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06505" cy="1159602"/>
              </a:xfrm>
              <a:prstGeom prst="rect">
                <a:avLst/>
              </a:prstGeom>
            </p:spPr>
            <p:txBody>
              <a:bodyPr lIns="49460" tIns="49460" rIns="49460" bIns="4946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4480845" y="1084600"/>
              <a:ext cx="8766573" cy="5527874"/>
              <a:chOff x="0" y="0"/>
              <a:chExt cx="1778573" cy="112150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778573" cy="1121502"/>
              </a:xfrm>
              <a:custGeom>
                <a:avLst/>
                <a:gdLst/>
                <a:ahLst/>
                <a:cxnLst/>
                <a:rect l="l" t="t" r="r" b="b"/>
                <a:pathLst>
                  <a:path w="1778573" h="1121502">
                    <a:moveTo>
                      <a:pt x="29437" y="0"/>
                    </a:moveTo>
                    <a:lnTo>
                      <a:pt x="1749135" y="0"/>
                    </a:lnTo>
                    <a:cubicBezTo>
                      <a:pt x="1765393" y="0"/>
                      <a:pt x="1778573" y="13180"/>
                      <a:pt x="1778573" y="29437"/>
                    </a:cubicBezTo>
                    <a:lnTo>
                      <a:pt x="1778573" y="1092064"/>
                    </a:lnTo>
                    <a:cubicBezTo>
                      <a:pt x="1778573" y="1099872"/>
                      <a:pt x="1775471" y="1107359"/>
                      <a:pt x="1769951" y="1112880"/>
                    </a:cubicBezTo>
                    <a:cubicBezTo>
                      <a:pt x="1764430" y="1118400"/>
                      <a:pt x="1756943" y="1121502"/>
                      <a:pt x="1749135" y="1121502"/>
                    </a:cubicBezTo>
                    <a:lnTo>
                      <a:pt x="29437" y="1121502"/>
                    </a:lnTo>
                    <a:cubicBezTo>
                      <a:pt x="21630" y="1121502"/>
                      <a:pt x="14143" y="1118400"/>
                      <a:pt x="8622" y="1112880"/>
                    </a:cubicBezTo>
                    <a:cubicBezTo>
                      <a:pt x="3101" y="1107359"/>
                      <a:pt x="0" y="1099872"/>
                      <a:pt x="0" y="1092064"/>
                    </a:cubicBezTo>
                    <a:lnTo>
                      <a:pt x="0" y="29437"/>
                    </a:lnTo>
                    <a:cubicBezTo>
                      <a:pt x="0" y="21630"/>
                      <a:pt x="3101" y="14143"/>
                      <a:pt x="8622" y="8622"/>
                    </a:cubicBezTo>
                    <a:cubicBezTo>
                      <a:pt x="14143" y="3101"/>
                      <a:pt x="21630" y="0"/>
                      <a:pt x="29437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rnd">
                <a:solidFill>
                  <a:srgbClr val="FE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778573" cy="1159602"/>
              </a:xfrm>
              <a:prstGeom prst="rect">
                <a:avLst/>
              </a:prstGeom>
            </p:spPr>
            <p:txBody>
              <a:bodyPr lIns="49460" tIns="49460" rIns="49460" bIns="49460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5116468" y="1347592"/>
              <a:ext cx="7844446" cy="5188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671"/>
                </a:lnSpc>
                <a:spcBef>
                  <a:spcPct val="0"/>
                </a:spcBef>
              </a:pPr>
              <a:r>
                <a:rPr lang="en-US" sz="1908" b="1" spc="-57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Koeppen et al. (2011): The Statistical Backbone</a:t>
              </a:r>
            </a:p>
            <a:p>
              <a:pPr algn="just">
                <a:lnSpc>
                  <a:spcPts val="2671"/>
                </a:lnSpc>
              </a:pPr>
              <a:endParaRPr lang="en-US" sz="1908" b="1" spc="-57">
                <a:solidFill>
                  <a:srgbClr val="FEFFFF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  <a:p>
              <a:pPr marL="411953" lvl="1" indent="-205977" algn="just">
                <a:lnSpc>
                  <a:spcPts val="267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08" b="1" spc="-57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Methodology</a:t>
              </a:r>
              <a:r>
                <a:rPr lang="en-US" sz="1908" spc="-57">
                  <a:solidFill>
                    <a:srgbClr val="FEFFFF"/>
                  </a:solidFill>
                  <a:latin typeface="Quicksand"/>
                  <a:ea typeface="Quicksand"/>
                  <a:cs typeface="Quicksand"/>
                  <a:sym typeface="Quicksand"/>
                </a:rPr>
                <a:t>: Establishes the "Hybrid Time Series" approach, combining standard thresholding with robust statistical analysis of historical data.</a:t>
              </a:r>
            </a:p>
            <a:p>
              <a:pPr marL="411953" lvl="1" indent="-205977" algn="just">
                <a:lnSpc>
                  <a:spcPts val="267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08" b="1" spc="-57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Validation</a:t>
              </a:r>
              <a:r>
                <a:rPr lang="en-US" sz="1908" spc="-57">
                  <a:solidFill>
                    <a:srgbClr val="FEFFFF"/>
                  </a:solidFill>
                  <a:latin typeface="Quicksand"/>
                  <a:ea typeface="Quicksand"/>
                  <a:cs typeface="Quicksand"/>
                  <a:sym typeface="Quicksand"/>
                </a:rPr>
                <a:t>: Provides the mathematical framework (the ALICE Index) to validate our gradient analysis against a historical baseline.</a:t>
              </a:r>
            </a:p>
            <a:p>
              <a:pPr marL="411953" lvl="1" indent="-205977" algn="just">
                <a:lnSpc>
                  <a:spcPts val="2671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908" b="1" spc="-57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Significance</a:t>
              </a:r>
              <a:r>
                <a:rPr lang="en-US" sz="1908" spc="-57">
                  <a:solidFill>
                    <a:srgbClr val="FEFFFF"/>
                  </a:solidFill>
                  <a:latin typeface="Quicksand"/>
                  <a:ea typeface="Quicksand"/>
                  <a:cs typeface="Quicksand"/>
                  <a:sym typeface="Quicksand"/>
                </a:rPr>
                <a:t>: Ensures that detected "edges" are statistically significant outliers  rather than random sensor noise or cloud cover.</a:t>
              </a:r>
            </a:p>
            <a:p>
              <a:pPr algn="just">
                <a:lnSpc>
                  <a:spcPts val="1887"/>
                </a:lnSpc>
                <a:spcBef>
                  <a:spcPct val="0"/>
                </a:spcBef>
              </a:pPr>
              <a:endParaRPr lang="en-US" sz="1908" spc="-57">
                <a:solidFill>
                  <a:srgbClr val="FEFFFF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3432268" y="1084600"/>
              <a:ext cx="8008715" cy="5527874"/>
              <a:chOff x="0" y="0"/>
              <a:chExt cx="1778573" cy="122762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778573" cy="1227628"/>
              </a:xfrm>
              <a:custGeom>
                <a:avLst/>
                <a:gdLst/>
                <a:ahLst/>
                <a:cxnLst/>
                <a:rect l="l" t="t" r="r" b="b"/>
                <a:pathLst>
                  <a:path w="1778573" h="1227628">
                    <a:moveTo>
                      <a:pt x="32223" y="0"/>
                    </a:moveTo>
                    <a:lnTo>
                      <a:pt x="1746350" y="0"/>
                    </a:lnTo>
                    <a:cubicBezTo>
                      <a:pt x="1764146" y="0"/>
                      <a:pt x="1778573" y="14427"/>
                      <a:pt x="1778573" y="32223"/>
                    </a:cubicBezTo>
                    <a:lnTo>
                      <a:pt x="1778573" y="1195405"/>
                    </a:lnTo>
                    <a:cubicBezTo>
                      <a:pt x="1778573" y="1213202"/>
                      <a:pt x="1764146" y="1227628"/>
                      <a:pt x="1746350" y="1227628"/>
                    </a:cubicBezTo>
                    <a:lnTo>
                      <a:pt x="32223" y="1227628"/>
                    </a:lnTo>
                    <a:cubicBezTo>
                      <a:pt x="14427" y="1227628"/>
                      <a:pt x="0" y="1213202"/>
                      <a:pt x="0" y="1195405"/>
                    </a:cubicBezTo>
                    <a:lnTo>
                      <a:pt x="0" y="32223"/>
                    </a:lnTo>
                    <a:cubicBezTo>
                      <a:pt x="0" y="14427"/>
                      <a:pt x="14427" y="0"/>
                      <a:pt x="3222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rnd">
                <a:solidFill>
                  <a:srgbClr val="FE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1778573" cy="1265728"/>
              </a:xfrm>
              <a:prstGeom prst="rect">
                <a:avLst/>
              </a:prstGeom>
            </p:spPr>
            <p:txBody>
              <a:bodyPr lIns="45185" tIns="45185" rIns="45185" bIns="45185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3432268" y="1084600"/>
              <a:ext cx="479580" cy="5527874"/>
              <a:chOff x="0" y="0"/>
              <a:chExt cx="106505" cy="122762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06505" cy="1227628"/>
              </a:xfrm>
              <a:custGeom>
                <a:avLst/>
                <a:gdLst/>
                <a:ahLst/>
                <a:cxnLst/>
                <a:rect l="l" t="t" r="r" b="b"/>
                <a:pathLst>
                  <a:path w="106505" h="1227628">
                    <a:moveTo>
                      <a:pt x="53252" y="0"/>
                    </a:moveTo>
                    <a:lnTo>
                      <a:pt x="53252" y="0"/>
                    </a:lnTo>
                    <a:cubicBezTo>
                      <a:pt x="67376" y="0"/>
                      <a:pt x="80921" y="5611"/>
                      <a:pt x="90908" y="15597"/>
                    </a:cubicBezTo>
                    <a:cubicBezTo>
                      <a:pt x="100894" y="25584"/>
                      <a:pt x="106505" y="39129"/>
                      <a:pt x="106505" y="53252"/>
                    </a:cubicBezTo>
                    <a:lnTo>
                      <a:pt x="106505" y="1174376"/>
                    </a:lnTo>
                    <a:cubicBezTo>
                      <a:pt x="106505" y="1188499"/>
                      <a:pt x="100894" y="1202044"/>
                      <a:pt x="90908" y="1212031"/>
                    </a:cubicBezTo>
                    <a:cubicBezTo>
                      <a:pt x="80921" y="1222018"/>
                      <a:pt x="67376" y="1227628"/>
                      <a:pt x="53252" y="1227628"/>
                    </a:cubicBezTo>
                    <a:lnTo>
                      <a:pt x="53252" y="1227628"/>
                    </a:lnTo>
                    <a:cubicBezTo>
                      <a:pt x="39129" y="1227628"/>
                      <a:pt x="25584" y="1222018"/>
                      <a:pt x="15597" y="1212031"/>
                    </a:cubicBezTo>
                    <a:cubicBezTo>
                      <a:pt x="5611" y="1202044"/>
                      <a:pt x="0" y="1188499"/>
                      <a:pt x="0" y="1174376"/>
                    </a:cubicBezTo>
                    <a:lnTo>
                      <a:pt x="0" y="53252"/>
                    </a:lnTo>
                    <a:cubicBezTo>
                      <a:pt x="0" y="39129"/>
                      <a:pt x="5611" y="25584"/>
                      <a:pt x="15597" y="15597"/>
                    </a:cubicBezTo>
                    <a:cubicBezTo>
                      <a:pt x="25584" y="5611"/>
                      <a:pt x="39129" y="0"/>
                      <a:pt x="53252" y="0"/>
                    </a:cubicBezTo>
                    <a:close/>
                  </a:path>
                </a:pathLst>
              </a:custGeom>
              <a:solidFill>
                <a:srgbClr val="FFD62E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06505" cy="1265728"/>
              </a:xfrm>
              <a:prstGeom prst="rect">
                <a:avLst/>
              </a:prstGeom>
            </p:spPr>
            <p:txBody>
              <a:bodyPr lIns="45185" tIns="45185" rIns="45185" bIns="45185" rtlCol="0" anchor="ctr"/>
              <a:lstStyle/>
              <a:p>
                <a:pPr algn="ctr">
                  <a:lnSpc>
                    <a:spcPts val="279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14038735" y="1347592"/>
              <a:ext cx="7166305" cy="52648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440"/>
                </a:lnSpc>
                <a:spcBef>
                  <a:spcPct val="0"/>
                </a:spcBef>
              </a:pPr>
              <a:r>
                <a:rPr lang="en-US" sz="1743" b="1" spc="-52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Zhou et al. (2016): Pattern Verification</a:t>
              </a:r>
            </a:p>
            <a:p>
              <a:pPr algn="just">
                <a:lnSpc>
                  <a:spcPts val="2440"/>
                </a:lnSpc>
              </a:pPr>
              <a:endParaRPr lang="en-US" sz="1743" b="1" spc="-52">
                <a:solidFill>
                  <a:srgbClr val="FEFFFF"/>
                </a:solidFill>
                <a:latin typeface="Quicksand Bold"/>
                <a:ea typeface="Quicksand Bold"/>
                <a:cs typeface="Quicksand Bold"/>
                <a:sym typeface="Quicksand Bold"/>
              </a:endParaRPr>
            </a:p>
            <a:p>
              <a:pPr marL="376341" lvl="1" indent="-188170" algn="just">
                <a:lnSpc>
                  <a:spcPts val="24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43" b="1" spc="-52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Methodology</a:t>
              </a:r>
              <a:r>
                <a:rPr lang="en-US" sz="1743" spc="-52">
                  <a:solidFill>
                    <a:srgbClr val="FEFFFF"/>
                  </a:solidFill>
                  <a:latin typeface="Quicksand"/>
                  <a:ea typeface="Quicksand"/>
                  <a:cs typeface="Quicksand"/>
                  <a:sym typeface="Quicksand"/>
                </a:rPr>
                <a:t>: Utilizes "Seasonal Autocorrelation" to analyze the predictable rhythm of seasonal changes.</a:t>
              </a:r>
            </a:p>
            <a:p>
              <a:pPr marL="376341" lvl="1" indent="-188170" algn="just">
                <a:lnSpc>
                  <a:spcPts val="24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43" b="1" spc="-52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False Positive Reduction</a:t>
              </a:r>
              <a:r>
                <a:rPr lang="en-US" sz="1743" spc="-52">
                  <a:solidFill>
                    <a:srgbClr val="FEFFFF"/>
                  </a:solidFill>
                  <a:latin typeface="Quicksand"/>
                  <a:ea typeface="Quicksand"/>
                  <a:cs typeface="Quicksand"/>
                  <a:sym typeface="Quicksand"/>
                </a:rPr>
                <a:t>: Critical for distinguishing between "natural" gradients (like a seasonally warming coastline) and "disruptive" gradients (like industrial heat sources).</a:t>
              </a:r>
            </a:p>
            <a:p>
              <a:pPr marL="376341" lvl="1" indent="-188170" algn="just">
                <a:lnSpc>
                  <a:spcPts val="24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43" b="1" spc="-52">
                  <a:solidFill>
                    <a:srgbClr val="FEFFFF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Pattern Breaking</a:t>
              </a:r>
              <a:r>
                <a:rPr lang="en-US" sz="1743" spc="-52">
                  <a:solidFill>
                    <a:srgbClr val="FEFFFF"/>
                  </a:solidFill>
                  <a:latin typeface="Quicksand"/>
                  <a:ea typeface="Quicksand"/>
                  <a:cs typeface="Quicksand"/>
                  <a:sym typeface="Quicksand"/>
                </a:rPr>
                <a:t>: Confirms that a detected signal is a true break in the established temporal pattern, rather than just a temporary intensity spike.</a:t>
              </a:r>
            </a:p>
            <a:p>
              <a:pPr algn="just">
                <a:lnSpc>
                  <a:spcPts val="2440"/>
                </a:lnSpc>
                <a:spcBef>
                  <a:spcPct val="0"/>
                </a:spcBef>
              </a:pPr>
              <a:endParaRPr lang="en-US" sz="1743" spc="-52">
                <a:solidFill>
                  <a:srgbClr val="FEFFFF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51735" y="7372439"/>
              <a:ext cx="17618358" cy="6347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62"/>
                </a:lnSpc>
              </a:pPr>
              <a:r>
                <a:rPr lang="en-US" sz="2738" spc="172">
                  <a:solidFill>
                    <a:srgbClr val="FEFFFF"/>
                  </a:solidFill>
                  <a:latin typeface="Quicksand"/>
                  <a:ea typeface="Quicksand"/>
                  <a:cs typeface="Quicksand"/>
                  <a:sym typeface="Quicksand"/>
                </a:rPr>
                <a:t>Project Repository: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51735" y="-85725"/>
              <a:ext cx="17618358" cy="6347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62"/>
                </a:lnSpc>
              </a:pPr>
              <a:r>
                <a:rPr lang="en-US" sz="2738" spc="172">
                  <a:solidFill>
                    <a:srgbClr val="FEFFFF"/>
                  </a:solidFill>
                  <a:latin typeface="Quicksand"/>
                  <a:ea typeface="Quicksand"/>
                  <a:cs typeface="Quicksand"/>
                  <a:sym typeface="Quicksand"/>
                </a:rPr>
                <a:t>References: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537116" y="7569858"/>
            <a:ext cx="13213769" cy="497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2"/>
              </a:lnSpc>
            </a:pPr>
            <a:r>
              <a:rPr lang="en-US" sz="2738" u="sng" spc="172" dirty="0">
                <a:solidFill>
                  <a:srgbClr val="FFFF00"/>
                </a:solidFill>
                <a:latin typeface="Quicksand"/>
                <a:ea typeface="Quicksand"/>
                <a:cs typeface="Quicksand"/>
                <a:sym typeface="Quicksand"/>
                <a:hlinkClick r:id="rId3" tooltip="https://github.com/SchnederIT/statistical_corr_on_sat_data/tree/dev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https://github.com/SchnederIT/statistical_corr_on_sat_data/tree/dev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Microsoft Office PowerPoint</Application>
  <PresentationFormat>Benutzerdefiniert</PresentationFormat>
  <Paragraphs>68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23" baseType="lpstr">
      <vt:lpstr>Arial</vt:lpstr>
      <vt:lpstr>Open Sauce</vt:lpstr>
      <vt:lpstr>Open Sauce Medium</vt:lpstr>
      <vt:lpstr>Cambria</vt:lpstr>
      <vt:lpstr>Cambria Italics</vt:lpstr>
      <vt:lpstr>Quicksand</vt:lpstr>
      <vt:lpstr>Quicksand Bold</vt:lpstr>
      <vt:lpstr>Calibri</vt:lpstr>
      <vt:lpstr>Intro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Purple Modern Aerospace Presentation</dc:title>
  <cp:lastModifiedBy>Alexei Crivcianschi</cp:lastModifiedBy>
  <cp:revision>2</cp:revision>
  <dcterms:created xsi:type="dcterms:W3CDTF">2006-08-16T00:00:00Z</dcterms:created>
  <dcterms:modified xsi:type="dcterms:W3CDTF">2025-12-12T17:25:36Z</dcterms:modified>
  <dc:identifier>DAG6wE0VqSA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2025-12-12T17:25:36Z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9c9101cb-14ac-41db-a3bf-0d9932be66a9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